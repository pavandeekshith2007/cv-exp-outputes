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8D563-D118-4AC4-9D7A-BE2B029581FA}" v="1" dt="2026-07-21T05:09:50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Deekshith Konjeti" userId="73d551a9ccc63556" providerId="LiveId" clId="{F646B8E6-3F3A-4CC6-BF60-0C72C1FF837C}"/>
    <pc:docChg chg="undo custSel modSld">
      <pc:chgData name="Pavan Deekshith Konjeti" userId="73d551a9ccc63556" providerId="LiveId" clId="{F646B8E6-3F3A-4CC6-BF60-0C72C1FF837C}" dt="2026-07-21T05:17:42.923" v="200" actId="1076"/>
      <pc:docMkLst>
        <pc:docMk/>
      </pc:docMkLst>
      <pc:sldChg chg="addSp modSp mod">
        <pc:chgData name="Pavan Deekshith Konjeti" userId="73d551a9ccc63556" providerId="LiveId" clId="{F646B8E6-3F3A-4CC6-BF60-0C72C1FF837C}" dt="2026-07-21T05:11:47.391" v="142" actId="2710"/>
        <pc:sldMkLst>
          <pc:docMk/>
          <pc:sldMk cId="0" sldId="256"/>
        </pc:sldMkLst>
        <pc:spChg chg="mod">
          <ac:chgData name="Pavan Deekshith Konjeti" userId="73d551a9ccc63556" providerId="LiveId" clId="{F646B8E6-3F3A-4CC6-BF60-0C72C1FF837C}" dt="2026-07-21T02:41:47.503" v="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1:53.492" v="1" actId="1076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Pavan Deekshith Konjeti" userId="73d551a9ccc63556" providerId="LiveId" clId="{F646B8E6-3F3A-4CC6-BF60-0C72C1FF837C}" dt="2026-07-21T05:11:47.391" v="142" actId="2710"/>
          <ac:spMkLst>
            <pc:docMk/>
            <pc:sldMk cId="0" sldId="256"/>
            <ac:spMk id="5" creationId="{B41C40AC-6A74-21CE-A771-DDFB41A62BF0}"/>
          </ac:spMkLst>
        </pc:spChg>
      </pc:sldChg>
      <pc:sldChg chg="modSp mod">
        <pc:chgData name="Pavan Deekshith Konjeti" userId="73d551a9ccc63556" providerId="LiveId" clId="{F646B8E6-3F3A-4CC6-BF60-0C72C1FF837C}" dt="2026-07-21T02:42:39.488" v="8" actId="255"/>
        <pc:sldMkLst>
          <pc:docMk/>
          <pc:sldMk cId="0" sldId="257"/>
        </pc:sldMkLst>
        <pc:spChg chg="mod">
          <ac:chgData name="Pavan Deekshith Konjeti" userId="73d551a9ccc63556" providerId="LiveId" clId="{F646B8E6-3F3A-4CC6-BF60-0C72C1FF837C}" dt="2026-07-21T02:42:07.013" v="2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2:39.488" v="8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2:29.078" v="6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2:07.013" v="2" actId="2711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avan Deekshith Konjeti" userId="73d551a9ccc63556" providerId="LiveId" clId="{F646B8E6-3F3A-4CC6-BF60-0C72C1FF837C}" dt="2026-07-21T05:17:42.923" v="200" actId="1076"/>
        <pc:sldMkLst>
          <pc:docMk/>
          <pc:sldMk cId="0" sldId="258"/>
        </pc:sldMkLst>
        <pc:spChg chg="mod">
          <ac:chgData name="Pavan Deekshith Konjeti" userId="73d551a9ccc63556" providerId="LiveId" clId="{F646B8E6-3F3A-4CC6-BF60-0C72C1FF837C}" dt="2026-07-21T05:12:39.664" v="14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4:03.511" v="15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5:18.608" v="172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5:09.703" v="17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6:29.631" v="18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6:47.285" v="189" actId="12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7:42.923" v="200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14:52.153" v="166" actId="255"/>
          <ac:spMkLst>
            <pc:docMk/>
            <pc:sldMk cId="0" sldId="258"/>
            <ac:spMk id="12" creationId="{00000000-0000-0000-0000-000000000000}"/>
          </ac:spMkLst>
        </pc:spChg>
        <pc:picChg chg="mod">
          <ac:chgData name="Pavan Deekshith Konjeti" userId="73d551a9ccc63556" providerId="LiveId" clId="{F646B8E6-3F3A-4CC6-BF60-0C72C1FF837C}" dt="2026-07-21T05:14:22.017" v="162" actId="1076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Pavan Deekshith Konjeti" userId="73d551a9ccc63556" providerId="LiveId" clId="{F646B8E6-3F3A-4CC6-BF60-0C72C1FF837C}" dt="2026-07-21T05:15:46.372" v="177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Pavan Deekshith Konjeti" userId="73d551a9ccc63556" providerId="LiveId" clId="{F646B8E6-3F3A-4CC6-BF60-0C72C1FF837C}" dt="2026-07-21T05:17:12.315" v="195" actId="1076"/>
          <ac:picMkLst>
            <pc:docMk/>
            <pc:sldMk cId="0" sldId="258"/>
            <ac:picMk id="9" creationId="{00000000-0000-0000-0000-000000000000}"/>
          </ac:picMkLst>
        </pc:picChg>
      </pc:sldChg>
      <pc:sldChg chg="modSp mod">
        <pc:chgData name="Pavan Deekshith Konjeti" userId="73d551a9ccc63556" providerId="LiveId" clId="{F646B8E6-3F3A-4CC6-BF60-0C72C1FF837C}" dt="2026-07-21T02:46:52.672" v="28" actId="20577"/>
        <pc:sldMkLst>
          <pc:docMk/>
          <pc:sldMk cId="0" sldId="259"/>
        </pc:sldMkLst>
        <pc:spChg chg="mod">
          <ac:chgData name="Pavan Deekshith Konjeti" userId="73d551a9ccc63556" providerId="LiveId" clId="{F646B8E6-3F3A-4CC6-BF60-0C72C1FF837C}" dt="2026-07-21T02:45:35.987" v="20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5:35.987" v="20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5:57.953" v="22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5:35.987" v="20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5:50.040" v="21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6:07.199" v="23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6:14.771" v="24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6:29.776" v="26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6:22.484" v="25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2:46:52.672" v="28" actId="20577"/>
          <ac:spMkLst>
            <pc:docMk/>
            <pc:sldMk cId="0" sldId="259"/>
            <ac:spMk id="13" creationId="{00000000-0000-0000-0000-000000000000}"/>
          </ac:spMkLst>
        </pc:spChg>
        <pc:picChg chg="mod">
          <ac:chgData name="Pavan Deekshith Konjeti" userId="73d551a9ccc63556" providerId="LiveId" clId="{F646B8E6-3F3A-4CC6-BF60-0C72C1FF837C}" dt="2026-07-21T02:44:50.445" v="15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Pavan Deekshith Konjeti" userId="73d551a9ccc63556" providerId="LiveId" clId="{F646B8E6-3F3A-4CC6-BF60-0C72C1FF837C}" dt="2026-07-21T05:09:38.363" v="61" actId="1076"/>
        <pc:sldMkLst>
          <pc:docMk/>
          <pc:sldMk cId="0" sldId="260"/>
        </pc:sldMkLst>
        <pc:spChg chg="mod">
          <ac:chgData name="Pavan Deekshith Konjeti" userId="73d551a9ccc63556" providerId="LiveId" clId="{F646B8E6-3F3A-4CC6-BF60-0C72C1FF837C}" dt="2026-07-21T05:09:38.363" v="61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09:30.817" v="60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09:15.188" v="57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09:07.496" v="56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08:59.368" v="55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7-21T05:07:52.246" v="48" actId="313"/>
          <ac:spMkLst>
            <pc:docMk/>
            <pc:sldMk cId="0" sldId="260"/>
            <ac:spMk id="24" creationId="{00000000-0000-0000-0000-000000000000}"/>
          </ac:spMkLst>
        </pc:spChg>
        <pc:picChg chg="mod">
          <ac:chgData name="Pavan Deekshith Konjeti" userId="73d551a9ccc63556" providerId="LiveId" clId="{F646B8E6-3F3A-4CC6-BF60-0C72C1FF837C}" dt="2026-07-21T05:09:19.284" v="59" actId="1076"/>
          <ac:picMkLst>
            <pc:docMk/>
            <pc:sldMk cId="0" sldId="260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04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8" y="8284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The Mechanics of Sight: Capturing Digital Reality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942752"/>
            <a:ext cx="4722763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How light → sensor → digital image. Visual story of capture from scene to file.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8FDBF-A06D-F3DD-486C-2C9E8B0EA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314" y="4764770"/>
            <a:ext cx="1077686" cy="3787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1C40AC-6A74-21CE-A771-DDFB41A62BF0}"/>
              </a:ext>
            </a:extLst>
          </p:cNvPr>
          <p:cNvSpPr txBox="1"/>
          <p:nvPr/>
        </p:nvSpPr>
        <p:spPr>
          <a:xfrm>
            <a:off x="6224452" y="3190672"/>
            <a:ext cx="2653660" cy="13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. Pavan Deekshith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192412172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ITA0502-Computer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20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Fundamentals of Image Acquisition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57511"/>
            <a:ext cx="3902943" cy="2195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2214" y="1426915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Illumination interacts with surfaces: reflection, absorption, scattering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Sensor converts electromagnetic energy → electrical signal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2D sensor arrays capture whole scene in one exposure (vs line-scan)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744938" y="3376438"/>
            <a:ext cx="3902943" cy="779562"/>
          </a:xfrm>
          <a:prstGeom prst="roundRect">
            <a:avLst>
              <a:gd name="adj" fmla="val 16367"/>
            </a:avLst>
          </a:prstGeom>
          <a:solidFill>
            <a:srgbClr val="CFDB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479006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342215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Keep exposure, spectrum, and geometry consistent for accurate capture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CD58B-2575-1F8A-0064-80B3AFA96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314" y="4764770"/>
            <a:ext cx="1077686" cy="378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22" y="74323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B0F0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The Sensor: Converting Light to Data</a:t>
            </a:r>
            <a:endParaRPr lang="en-US" sz="2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29" y="1808051"/>
            <a:ext cx="1613478" cy="13115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8676" y="1445423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Photosites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3842" y="3343066"/>
            <a:ext cx="289433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Photon buckets store electrons during exposure — charge ∝ light intensity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11" y="1699676"/>
            <a:ext cx="1970577" cy="15242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7893" y="1445423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Photoelectric Effect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677258" y="3360857"/>
            <a:ext cx="1970577" cy="55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Photons liberate electrons → measurable charge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9" y="1724933"/>
            <a:ext cx="1970577" cy="14990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44535" y="1487730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Key Metrics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404616" y="3366511"/>
            <a:ext cx="2275542" cy="75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Quantum Efficiency (QE), Full‑well capacity, Noise floor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43868" y="42525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Design trade-offs: QE vs pixel size; well capacity vs dynamic range.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886D60-5E9E-2DB6-D059-DF31B82948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314" y="4764770"/>
            <a:ext cx="1077686" cy="378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306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Real-World Challenges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65" y="1140023"/>
            <a:ext cx="4578801" cy="22916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7401" y="2222496"/>
            <a:ext cx="886973" cy="13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Low Throughput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327764" y="3302462"/>
            <a:ext cx="1061537" cy="13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Low Light Quality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305908" y="2222496"/>
            <a:ext cx="886973" cy="13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High Throughput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325110" y="1237036"/>
            <a:ext cx="1061537" cy="13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High Light Quality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19553" y="2777149"/>
            <a:ext cx="910563" cy="212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Frame Rate: Bandwidth Limits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069807" y="2781867"/>
            <a:ext cx="910562" cy="212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Optics: Aberrations vs Correction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069807" y="1909048"/>
            <a:ext cx="910562" cy="212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Exposure: Noise vs Clipping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791245" y="1909048"/>
            <a:ext cx="910562" cy="212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Aperture: Diffraction vs Depth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6119" y="3663181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 Aperture trade-off: small aperture → diffraction blur; large → shallow depth and lighter. - Exposure trade-off: low exposure → sensor/thermal noise; high → clipping highlights. - Throughput: high frame rates demand huge bandwidth and low-latency processing.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906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Signal → Representation: Pipeline &amp; System Model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2" y="1518098"/>
            <a:ext cx="4337596" cy="1627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3992" y="2541613"/>
            <a:ext cx="654237" cy="12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Analog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48883" y="2541613"/>
            <a:ext cx="654237" cy="12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Sensor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90745" y="2541613"/>
            <a:ext cx="654237" cy="12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Colour Filter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87234" y="2541613"/>
            <a:ext cx="654237" cy="12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Optics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9097" y="2540151"/>
            <a:ext cx="654236" cy="12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Illumination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62624" y="1052140"/>
            <a:ext cx="1682651" cy="1019547"/>
          </a:xfrm>
          <a:prstGeom prst="roundRect">
            <a:avLst>
              <a:gd name="adj" fmla="val 1173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00290" y="1189806"/>
            <a:ext cx="140731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Optics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00290" y="1522065"/>
            <a:ext cx="140731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Image formation, aberrations, focus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969844" y="1052140"/>
            <a:ext cx="1682725" cy="1019547"/>
          </a:xfrm>
          <a:prstGeom prst="roundRect">
            <a:avLst>
              <a:gd name="adj" fmla="val 1173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07510" y="1189806"/>
            <a:ext cx="140739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Sensor &amp; Analog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07510" y="1522065"/>
            <a:ext cx="140739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QE, well capacity, noise, CDS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162624" y="2196257"/>
            <a:ext cx="1682651" cy="1019547"/>
          </a:xfrm>
          <a:prstGeom prst="roundRect">
            <a:avLst>
              <a:gd name="adj" fmla="val 1173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300290" y="2333923"/>
            <a:ext cx="140731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Digital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00290" y="2666181"/>
            <a:ext cx="140731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ADC, demosaic, compression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69844" y="2196257"/>
            <a:ext cx="1682725" cy="1019547"/>
          </a:xfrm>
          <a:prstGeom prst="roundRect">
            <a:avLst>
              <a:gd name="adj" fmla="val 1173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107510" y="2333923"/>
            <a:ext cx="140739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Processing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107510" y="2666181"/>
            <a:ext cx="140739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Tone, colour, reconstruction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162624" y="3355925"/>
            <a:ext cx="3489945" cy="908447"/>
          </a:xfrm>
          <a:prstGeom prst="roundRect">
            <a:avLst>
              <a:gd name="adj" fmla="val 13167"/>
            </a:avLst>
          </a:prstGeom>
          <a:solidFill>
            <a:srgbClr val="CFDB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528" y="3558108"/>
            <a:ext cx="166092" cy="13290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94524" y="3501182"/>
            <a:ext cx="2925142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Optimise each block for target fidelity: resolution, dynamic range, temporal performance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267519" y="3568163"/>
            <a:ext cx="4762202" cy="6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Next steps: choose sensors and optics to balance light, noise, </a:t>
            </a:r>
            <a:b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bandwidth, and final representation goals.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782DE06-1F5C-7F6F-F0D0-A070E387A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314" y="4764770"/>
            <a:ext cx="1077686" cy="378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298</Words>
  <Application>Microsoft Office PowerPoint</Application>
  <PresentationFormat>On-screen Show (16:9)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Pavan Deekshith Konjeti</cp:lastModifiedBy>
  <cp:revision>2</cp:revision>
  <dcterms:created xsi:type="dcterms:W3CDTF">2026-07-20T09:00:33Z</dcterms:created>
  <dcterms:modified xsi:type="dcterms:W3CDTF">2026-07-21T05:17:47Z</dcterms:modified>
</cp:coreProperties>
</file>